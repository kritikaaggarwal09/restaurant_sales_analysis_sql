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4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5E98-5CEC-4D9C-BB28-D1B8984757A4}" v="27" dt="2026-06-09T10:40:09.7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ika Aggarwal" userId="33cf9f8942a662cb" providerId="LiveId" clId="{D97EE72D-0B94-440F-A5EC-0744150ACDB4}"/>
    <pc:docChg chg="undo custSel addSld delSld modSld">
      <pc:chgData name="Kritika Aggarwal" userId="33cf9f8942a662cb" providerId="LiveId" clId="{D97EE72D-0B94-440F-A5EC-0744150ACDB4}" dt="2026-06-09T10:43:16.428" v="1484" actId="115"/>
      <pc:docMkLst>
        <pc:docMk/>
      </pc:docMkLst>
      <pc:sldChg chg="modSp mod">
        <pc:chgData name="Kritika Aggarwal" userId="33cf9f8942a662cb" providerId="LiveId" clId="{D97EE72D-0B94-440F-A5EC-0744150ACDB4}" dt="2026-06-09T09:42:20.565" v="819" actId="1076"/>
        <pc:sldMkLst>
          <pc:docMk/>
          <pc:sldMk cId="3202171407" sldId="256"/>
        </pc:sldMkLst>
        <pc:spChg chg="mod">
          <ac:chgData name="Kritika Aggarwal" userId="33cf9f8942a662cb" providerId="LiveId" clId="{D97EE72D-0B94-440F-A5EC-0744150ACDB4}" dt="2026-06-09T09:42:14.455" v="818" actId="1076"/>
          <ac:spMkLst>
            <pc:docMk/>
            <pc:sldMk cId="3202171407" sldId="256"/>
            <ac:spMk id="2" creationId="{99FD884B-CEFA-81A8-D8F1-4BBA52C6A080}"/>
          </ac:spMkLst>
        </pc:spChg>
        <pc:picChg chg="mod">
          <ac:chgData name="Kritika Aggarwal" userId="33cf9f8942a662cb" providerId="LiveId" clId="{D97EE72D-0B94-440F-A5EC-0744150ACDB4}" dt="2026-06-09T09:42:20.565" v="819" actId="1076"/>
          <ac:picMkLst>
            <pc:docMk/>
            <pc:sldMk cId="3202171407" sldId="256"/>
            <ac:picMk id="5" creationId="{491FA1FB-14DD-B73D-DA7D-D6859C7CD7B8}"/>
          </ac:picMkLst>
        </pc:picChg>
        <pc:picChg chg="mod">
          <ac:chgData name="Kritika Aggarwal" userId="33cf9f8942a662cb" providerId="LiveId" clId="{D97EE72D-0B94-440F-A5EC-0744150ACDB4}" dt="2026-06-09T06:41:14.175" v="6" actId="14100"/>
          <ac:picMkLst>
            <pc:docMk/>
            <pc:sldMk cId="3202171407" sldId="256"/>
            <ac:picMk id="7" creationId="{D11196C8-2477-1F46-4F7C-C6392986384B}"/>
          </ac:picMkLst>
        </pc:picChg>
      </pc:sldChg>
      <pc:sldChg chg="modSp mod">
        <pc:chgData name="Kritika Aggarwal" userId="33cf9f8942a662cb" providerId="LiveId" clId="{D97EE72D-0B94-440F-A5EC-0744150ACDB4}" dt="2026-06-09T09:45:28.920" v="826" actId="1076"/>
        <pc:sldMkLst>
          <pc:docMk/>
          <pc:sldMk cId="1507822242" sldId="257"/>
        </pc:sldMkLst>
        <pc:spChg chg="mod">
          <ac:chgData name="Kritika Aggarwal" userId="33cf9f8942a662cb" providerId="LiveId" clId="{D97EE72D-0B94-440F-A5EC-0744150ACDB4}" dt="2026-06-09T09:44:04.711" v="823" actId="20577"/>
          <ac:spMkLst>
            <pc:docMk/>
            <pc:sldMk cId="1507822242" sldId="257"/>
            <ac:spMk id="2" creationId="{20EBA476-7E49-95B5-27AD-1DBD76743BFE}"/>
          </ac:spMkLst>
        </pc:spChg>
        <pc:picChg chg="mod">
          <ac:chgData name="Kritika Aggarwal" userId="33cf9f8942a662cb" providerId="LiveId" clId="{D97EE72D-0B94-440F-A5EC-0744150ACDB4}" dt="2026-06-09T09:45:28.920" v="826" actId="1076"/>
          <ac:picMkLst>
            <pc:docMk/>
            <pc:sldMk cId="1507822242" sldId="257"/>
            <ac:picMk id="5" creationId="{2E834F5E-8818-D801-7742-F5BCB0F7D8C6}"/>
          </ac:picMkLst>
        </pc:picChg>
      </pc:sldChg>
      <pc:sldChg chg="modSp mod">
        <pc:chgData name="Kritika Aggarwal" userId="33cf9f8942a662cb" providerId="LiveId" clId="{D97EE72D-0B94-440F-A5EC-0744150ACDB4}" dt="2026-06-09T09:45:46.138" v="828" actId="14100"/>
        <pc:sldMkLst>
          <pc:docMk/>
          <pc:sldMk cId="4065612723" sldId="278"/>
        </pc:sldMkLst>
        <pc:picChg chg="mod">
          <ac:chgData name="Kritika Aggarwal" userId="33cf9f8942a662cb" providerId="LiveId" clId="{D97EE72D-0B94-440F-A5EC-0744150ACDB4}" dt="2026-06-09T09:45:46.138" v="828" actId="14100"/>
          <ac:picMkLst>
            <pc:docMk/>
            <pc:sldMk cId="4065612723" sldId="278"/>
            <ac:picMk id="5" creationId="{D968B5C0-2CF2-286F-475E-30130682E87B}"/>
          </ac:picMkLst>
        </pc:picChg>
      </pc:sldChg>
      <pc:sldChg chg="modSp new del mod">
        <pc:chgData name="Kritika Aggarwal" userId="33cf9f8942a662cb" providerId="LiveId" clId="{D97EE72D-0B94-440F-A5EC-0744150ACDB4}" dt="2026-06-09T09:06:43.296" v="16" actId="2696"/>
        <pc:sldMkLst>
          <pc:docMk/>
          <pc:sldMk cId="803854000" sldId="280"/>
        </pc:sldMkLst>
        <pc:spChg chg="mod">
          <ac:chgData name="Kritika Aggarwal" userId="33cf9f8942a662cb" providerId="LiveId" clId="{D97EE72D-0B94-440F-A5EC-0744150ACDB4}" dt="2026-06-09T09:06:39.090" v="15" actId="14100"/>
          <ac:spMkLst>
            <pc:docMk/>
            <pc:sldMk cId="803854000" sldId="280"/>
            <ac:spMk id="2" creationId="{07B9B50F-C579-F2C4-0A4A-988167EDFD48}"/>
          </ac:spMkLst>
        </pc:spChg>
      </pc:sldChg>
      <pc:sldChg chg="addSp modSp new mod">
        <pc:chgData name="Kritika Aggarwal" userId="33cf9f8942a662cb" providerId="LiveId" clId="{D97EE72D-0B94-440F-A5EC-0744150ACDB4}" dt="2026-06-09T10:09:18.758" v="1182" actId="113"/>
        <pc:sldMkLst>
          <pc:docMk/>
          <pc:sldMk cId="2221567585" sldId="280"/>
        </pc:sldMkLst>
        <pc:spChg chg="add mod">
          <ac:chgData name="Kritika Aggarwal" userId="33cf9f8942a662cb" providerId="LiveId" clId="{D97EE72D-0B94-440F-A5EC-0744150ACDB4}" dt="2026-06-09T10:09:18.758" v="1182" actId="113"/>
          <ac:spMkLst>
            <pc:docMk/>
            <pc:sldMk cId="2221567585" sldId="280"/>
            <ac:spMk id="2" creationId="{2BD98D2C-BB70-3AF3-6E13-A7539ECD0989}"/>
          </ac:spMkLst>
        </pc:spChg>
      </pc:sldChg>
      <pc:sldChg chg="addSp delSp modSp new mod">
        <pc:chgData name="Kritika Aggarwal" userId="33cf9f8942a662cb" providerId="LiveId" clId="{D97EE72D-0B94-440F-A5EC-0744150ACDB4}" dt="2026-06-09T10:09:25.543" v="1183" actId="20577"/>
        <pc:sldMkLst>
          <pc:docMk/>
          <pc:sldMk cId="779835192" sldId="281"/>
        </pc:sldMkLst>
        <pc:spChg chg="add del mod">
          <ac:chgData name="Kritika Aggarwal" userId="33cf9f8942a662cb" providerId="LiveId" clId="{D97EE72D-0B94-440F-A5EC-0744150ACDB4}" dt="2026-06-09T09:21:25.024" v="563"/>
          <ac:spMkLst>
            <pc:docMk/>
            <pc:sldMk cId="779835192" sldId="281"/>
            <ac:spMk id="2" creationId="{5BD609EA-8486-5688-A7B5-DD23FBB692A7}"/>
          </ac:spMkLst>
        </pc:spChg>
        <pc:spChg chg="add del">
          <ac:chgData name="Kritika Aggarwal" userId="33cf9f8942a662cb" providerId="LiveId" clId="{D97EE72D-0B94-440F-A5EC-0744150ACDB4}" dt="2026-06-09T09:21:25.011" v="561" actId="21"/>
          <ac:spMkLst>
            <pc:docMk/>
            <pc:sldMk cId="779835192" sldId="281"/>
            <ac:spMk id="3" creationId="{45FA0FA7-C698-0593-1AF9-8C2FC43DF5AD}"/>
          </ac:spMkLst>
        </pc:spChg>
        <pc:spChg chg="add del mod">
          <ac:chgData name="Kritika Aggarwal" userId="33cf9f8942a662cb" providerId="LiveId" clId="{D97EE72D-0B94-440F-A5EC-0744150ACDB4}" dt="2026-06-09T09:21:35.446" v="567"/>
          <ac:spMkLst>
            <pc:docMk/>
            <pc:sldMk cId="779835192" sldId="281"/>
            <ac:spMk id="4" creationId="{05416A01-2497-4CB7-E3FC-44632D0CEEF8}"/>
          </ac:spMkLst>
        </pc:spChg>
        <pc:spChg chg="add del mod">
          <ac:chgData name="Kritika Aggarwal" userId="33cf9f8942a662cb" providerId="LiveId" clId="{D97EE72D-0B94-440F-A5EC-0744150ACDB4}" dt="2026-06-09T09:21:40.540" v="568" actId="21"/>
          <ac:spMkLst>
            <pc:docMk/>
            <pc:sldMk cId="779835192" sldId="281"/>
            <ac:spMk id="5" creationId="{45FA0FA7-C698-0593-1AF9-8C2FC43DF5AD}"/>
          </ac:spMkLst>
        </pc:spChg>
        <pc:spChg chg="add mod">
          <ac:chgData name="Kritika Aggarwal" userId="33cf9f8942a662cb" providerId="LiveId" clId="{D97EE72D-0B94-440F-A5EC-0744150ACDB4}" dt="2026-06-09T10:09:25.543" v="1183" actId="20577"/>
          <ac:spMkLst>
            <pc:docMk/>
            <pc:sldMk cId="779835192" sldId="281"/>
            <ac:spMk id="6" creationId="{13B3261F-0A43-65A5-0753-600095536837}"/>
          </ac:spMkLst>
        </pc:spChg>
      </pc:sldChg>
      <pc:sldChg chg="addSp modSp new mod">
        <pc:chgData name="Kritika Aggarwal" userId="33cf9f8942a662cb" providerId="LiveId" clId="{D97EE72D-0B94-440F-A5EC-0744150ACDB4}" dt="2026-06-09T09:41:03.209" v="816" actId="20577"/>
        <pc:sldMkLst>
          <pc:docMk/>
          <pc:sldMk cId="2803821781" sldId="282"/>
        </pc:sldMkLst>
        <pc:spChg chg="add mod">
          <ac:chgData name="Kritika Aggarwal" userId="33cf9f8942a662cb" providerId="LiveId" clId="{D97EE72D-0B94-440F-A5EC-0744150ACDB4}" dt="2026-06-09T09:41:03.209" v="816" actId="20577"/>
          <ac:spMkLst>
            <pc:docMk/>
            <pc:sldMk cId="2803821781" sldId="282"/>
            <ac:spMk id="2" creationId="{E8403E47-8B40-25B9-8A62-39129823A6AD}"/>
          </ac:spMkLst>
        </pc:spChg>
      </pc:sldChg>
      <pc:sldChg chg="addSp delSp modSp new mod">
        <pc:chgData name="Kritika Aggarwal" userId="33cf9f8942a662cb" providerId="LiveId" clId="{D97EE72D-0B94-440F-A5EC-0744150ACDB4}" dt="2026-06-09T10:02:34.756" v="947" actId="1076"/>
        <pc:sldMkLst>
          <pc:docMk/>
          <pc:sldMk cId="2454053069" sldId="283"/>
        </pc:sldMkLst>
        <pc:spChg chg="add del mod">
          <ac:chgData name="Kritika Aggarwal" userId="33cf9f8942a662cb" providerId="LiveId" clId="{D97EE72D-0B94-440F-A5EC-0744150ACDB4}" dt="2026-06-09T09:47:57.849" v="834"/>
          <ac:spMkLst>
            <pc:docMk/>
            <pc:sldMk cId="2454053069" sldId="283"/>
            <ac:spMk id="2" creationId="{07AE7503-6939-70FA-0A10-7CE2FBA450AC}"/>
          </ac:spMkLst>
        </pc:spChg>
        <pc:spChg chg="add mod">
          <ac:chgData name="Kritika Aggarwal" userId="33cf9f8942a662cb" providerId="LiveId" clId="{D97EE72D-0B94-440F-A5EC-0744150ACDB4}" dt="2026-06-09T10:02:34.756" v="947" actId="1076"/>
          <ac:spMkLst>
            <pc:docMk/>
            <pc:sldMk cId="2454053069" sldId="283"/>
            <ac:spMk id="3" creationId="{712E6B10-F6DA-BAE7-4864-AF90BE88893E}"/>
          </ac:spMkLst>
        </pc:spChg>
        <pc:spChg chg="add del mod">
          <ac:chgData name="Kritika Aggarwal" userId="33cf9f8942a662cb" providerId="LiveId" clId="{D97EE72D-0B94-440F-A5EC-0744150ACDB4}" dt="2026-06-09T09:57:23.706" v="927"/>
          <ac:spMkLst>
            <pc:docMk/>
            <pc:sldMk cId="2454053069" sldId="283"/>
            <ac:spMk id="4" creationId="{1CD222E6-B1CB-4DCE-9923-8E87085FD198}"/>
          </ac:spMkLst>
        </pc:spChg>
        <pc:spChg chg="add mod">
          <ac:chgData name="Kritika Aggarwal" userId="33cf9f8942a662cb" providerId="LiveId" clId="{D97EE72D-0B94-440F-A5EC-0744150ACDB4}" dt="2026-06-09T09:57:57.499" v="929" actId="115"/>
          <ac:spMkLst>
            <pc:docMk/>
            <pc:sldMk cId="2454053069" sldId="283"/>
            <ac:spMk id="5" creationId="{925CB7CA-F84C-EFC7-4990-15CC6928D3F1}"/>
          </ac:spMkLst>
        </pc:spChg>
      </pc:sldChg>
      <pc:sldChg chg="addSp delSp modSp new mod">
        <pc:chgData name="Kritika Aggarwal" userId="33cf9f8942a662cb" providerId="LiveId" clId="{D97EE72D-0B94-440F-A5EC-0744150ACDB4}" dt="2026-06-09T10:43:16.428" v="1484" actId="115"/>
        <pc:sldMkLst>
          <pc:docMk/>
          <pc:sldMk cId="1423100630" sldId="284"/>
        </pc:sldMkLst>
        <pc:spChg chg="add mod">
          <ac:chgData name="Kritika Aggarwal" userId="33cf9f8942a662cb" providerId="LiveId" clId="{D97EE72D-0B94-440F-A5EC-0744150ACDB4}" dt="2026-06-09T10:43:16.428" v="1484" actId="115"/>
          <ac:spMkLst>
            <pc:docMk/>
            <pc:sldMk cId="1423100630" sldId="284"/>
            <ac:spMk id="2" creationId="{D8939532-74E3-3D13-B37F-D6C83EB673B7}"/>
          </ac:spMkLst>
        </pc:spChg>
        <pc:cxnChg chg="add del mod">
          <ac:chgData name="Kritika Aggarwal" userId="33cf9f8942a662cb" providerId="LiveId" clId="{D97EE72D-0B94-440F-A5EC-0744150ACDB4}" dt="2026-06-09T10:37:49.787" v="1187" actId="11529"/>
          <ac:cxnSpMkLst>
            <pc:docMk/>
            <pc:sldMk cId="1423100630" sldId="284"/>
            <ac:cxnSpMk id="4" creationId="{BCA0320F-471F-120E-EF54-6FA485DECA5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519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84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25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06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704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70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47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10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8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98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324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998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047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438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035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3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75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85DBBF-F3D0-41A5-BFFD-9F6A22F30DF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AE3F4E-5CBA-410D-926C-8B41C12F6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895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884B-CEFA-81A8-D8F1-4BBA52C6A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2659" y="678426"/>
            <a:ext cx="8012778" cy="924232"/>
          </a:xfrm>
          <a:ln>
            <a:solidFill>
              <a:schemeClr val="accent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marL="685800" indent="-685800" algn="just">
              <a:buFont typeface="Wingdings" panose="05000000000000000000" pitchFamily="2" charset="2"/>
              <a:buChar char="v"/>
            </a:pPr>
            <a:r>
              <a:rPr lang="en-IN" sz="5400" u="sng" dirty="0">
                <a:latin typeface="Bauhaus 93" panose="04030905020B02020C02" pitchFamily="82" charset="0"/>
              </a:rPr>
              <a:t>RESTAURANTS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E0A9A-70C5-5830-FD63-ADA6428DE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6920" y="6543913"/>
            <a:ext cx="885415" cy="314087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5" name="Picture 4" descr="Cartoon of two people reading a menu&#10;&#10;AI-generated content may be incorrect.">
            <a:extLst>
              <a:ext uri="{FF2B5EF4-FFF2-40B4-BE49-F238E27FC236}">
                <a16:creationId xmlns:a16="http://schemas.microsoft.com/office/drawing/2014/main" id="{491FA1FB-14DD-B73D-DA7D-D6859C7CD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702" y="2330245"/>
            <a:ext cx="3297218" cy="4213668"/>
          </a:xfrm>
          <a:prstGeom prst="rect">
            <a:avLst/>
          </a:prstGeom>
        </p:spPr>
      </p:pic>
      <p:pic>
        <p:nvPicPr>
          <p:cNvPr id="7" name="Picture 6" descr="A restaurant with a chef on the front&#10;&#10;AI-generated content may be incorrect.">
            <a:extLst>
              <a:ext uri="{FF2B5EF4-FFF2-40B4-BE49-F238E27FC236}">
                <a16:creationId xmlns:a16="http://schemas.microsoft.com/office/drawing/2014/main" id="{D11196C8-2477-1F46-4F7C-C63929863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81" y="2330245"/>
            <a:ext cx="7157884" cy="421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7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2E6B10-F6DA-BAE7-4864-AF90BE88893E}"/>
              </a:ext>
            </a:extLst>
          </p:cNvPr>
          <p:cNvSpPr txBox="1"/>
          <p:nvPr/>
        </p:nvSpPr>
        <p:spPr>
          <a:xfrm>
            <a:off x="732503" y="2492477"/>
            <a:ext cx="107269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This project is an interactive SQL-based restaurant analysis project designed to explore restaurant operations using structured query language (SQL). 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The project focuses on analyzing restaurant data to generate meaningful business insights through queries, reports, and data exploration.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Project use data to demonstrate how </a:t>
            </a:r>
            <a:r>
              <a:rPr lang="en-US" sz="2400" b="1" dirty="0"/>
              <a:t>SQL can be used to analyze data</a:t>
            </a:r>
            <a:r>
              <a:rPr lang="en-US" sz="2400" dirty="0"/>
              <a:t>, answer real-world questions.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CB7CA-F84C-EFC7-4990-15CC6928D3F1}"/>
              </a:ext>
            </a:extLst>
          </p:cNvPr>
          <p:cNvSpPr txBox="1"/>
          <p:nvPr/>
        </p:nvSpPr>
        <p:spPr>
          <a:xfrm>
            <a:off x="1728018" y="737418"/>
            <a:ext cx="8509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</a:t>
            </a:r>
            <a:r>
              <a:rPr lang="en-IN" sz="54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Algerian" panose="04020705040A02060702" pitchFamily="82" charset="0"/>
              </a:rPr>
              <a:t>📌 </a:t>
            </a:r>
            <a:r>
              <a:rPr lang="en-IN" sz="5400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454053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A476-7E49-95B5-27AD-1DBD7674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1. : What are the top 5 mostLY sold menu items?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834F5E-8818-D801-7742-F5BCB0F7D8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03" y="2065867"/>
            <a:ext cx="8136193" cy="4364430"/>
          </a:xfrm>
        </p:spPr>
      </p:pic>
    </p:spTree>
    <p:extLst>
      <p:ext uri="{BB962C8B-B14F-4D97-AF65-F5344CB8AC3E}">
        <p14:creationId xmlns:p14="http://schemas.microsoft.com/office/powerpoint/2010/main" val="1507822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A457-4DB7-A677-D5B7-AF796FDE4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2. What is the total revenue generated?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A6AAF4-585A-688C-CEDE-74BD89DC8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6"/>
          <a:stretch>
            <a:fillRect/>
          </a:stretch>
        </p:blipFill>
        <p:spPr>
          <a:xfrm>
            <a:off x="1078246" y="2065867"/>
            <a:ext cx="9897856" cy="4177655"/>
          </a:xfrm>
        </p:spPr>
      </p:pic>
    </p:spTree>
    <p:extLst>
      <p:ext uri="{BB962C8B-B14F-4D97-AF65-F5344CB8AC3E}">
        <p14:creationId xmlns:p14="http://schemas.microsoft.com/office/powerpoint/2010/main" val="412099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8DFE-BA35-B0CD-64D3-87F5464F4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3. : What is the average price of an item in each category?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87D7AB-0995-D36D-6779-B61DB70FD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089" y="2065867"/>
            <a:ext cx="7690848" cy="4351338"/>
          </a:xfrm>
        </p:spPr>
      </p:pic>
    </p:spTree>
    <p:extLst>
      <p:ext uri="{BB962C8B-B14F-4D97-AF65-F5344CB8AC3E}">
        <p14:creationId xmlns:p14="http://schemas.microsoft.com/office/powerpoint/2010/main" val="256018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8AD92-AD66-1142-7077-563EDC1B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4. : What is the total revenue generated by each food category?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78673B-8934-7E07-6C8F-96953B3A6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55" y="2141537"/>
            <a:ext cx="6734314" cy="4239597"/>
          </a:xfrm>
        </p:spPr>
      </p:pic>
    </p:spTree>
    <p:extLst>
      <p:ext uri="{BB962C8B-B14F-4D97-AF65-F5344CB8AC3E}">
        <p14:creationId xmlns:p14="http://schemas.microsoft.com/office/powerpoint/2010/main" val="1528222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8474-B5B2-9077-1EE5-8CD4E863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5. : How many orders were placed on a specific month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6EA857-7373-D33C-A05A-1CD315B53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05" y="2141538"/>
            <a:ext cx="8673214" cy="3649662"/>
          </a:xfrm>
        </p:spPr>
      </p:pic>
    </p:spTree>
    <p:extLst>
      <p:ext uri="{BB962C8B-B14F-4D97-AF65-F5344CB8AC3E}">
        <p14:creationId xmlns:p14="http://schemas.microsoft.com/office/powerpoint/2010/main" val="1956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0C14-94F8-8F01-E769-65FF0F1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6. : What is the most expensive item on the menu?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DC40F1-68FD-0113-A634-9385EB4DF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78" y="2141537"/>
            <a:ext cx="7249669" cy="4298591"/>
          </a:xfrm>
        </p:spPr>
      </p:pic>
    </p:spTree>
    <p:extLst>
      <p:ext uri="{BB962C8B-B14F-4D97-AF65-F5344CB8AC3E}">
        <p14:creationId xmlns:p14="http://schemas.microsoft.com/office/powerpoint/2010/main" val="353108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FCEC-7C0B-0626-1E0E-3B38C12F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7. : What are the most popular categories?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7989ED-37C1-DFF0-F02D-4152D5433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505" y="2141538"/>
            <a:ext cx="7560014" cy="3649662"/>
          </a:xfrm>
        </p:spPr>
      </p:pic>
    </p:spTree>
    <p:extLst>
      <p:ext uri="{BB962C8B-B14F-4D97-AF65-F5344CB8AC3E}">
        <p14:creationId xmlns:p14="http://schemas.microsoft.com/office/powerpoint/2010/main" val="2305343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4A87-3625-DD1A-6EE2-C2398560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8. : How many distinct menu items were sold in total?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D3A9A1-E5B2-6EAA-824D-FC432F3F5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652" y="2141538"/>
            <a:ext cx="7391721" cy="3649662"/>
          </a:xfrm>
        </p:spPr>
      </p:pic>
    </p:spTree>
    <p:extLst>
      <p:ext uri="{BB962C8B-B14F-4D97-AF65-F5344CB8AC3E}">
        <p14:creationId xmlns:p14="http://schemas.microsoft.com/office/powerpoint/2010/main" val="1516520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FF96-FE06-A582-F8EE-07D6F680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9. : What is the average order value?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5903EB-4B8C-B6DA-A532-100C37B47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220" y="1981886"/>
            <a:ext cx="7890702" cy="3743847"/>
          </a:xfrm>
        </p:spPr>
      </p:pic>
    </p:spTree>
    <p:extLst>
      <p:ext uri="{BB962C8B-B14F-4D97-AF65-F5344CB8AC3E}">
        <p14:creationId xmlns:p14="http://schemas.microsoft.com/office/powerpoint/2010/main" val="798783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9105-315B-E51E-EB47-6F312E3A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10. : What is the item that has not been sold?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ADB327-34C8-2A84-FF99-5CA2589E3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81" y="1825625"/>
            <a:ext cx="9163664" cy="4351338"/>
          </a:xfrm>
        </p:spPr>
      </p:pic>
    </p:spTree>
    <p:extLst>
      <p:ext uri="{BB962C8B-B14F-4D97-AF65-F5344CB8AC3E}">
        <p14:creationId xmlns:p14="http://schemas.microsoft.com/office/powerpoint/2010/main" val="1666459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CA3F-6AC9-E2FB-291E-74135627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11. : What is the daily total revenue? (sales per day)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D02E98-FAF1-7E5C-5606-002F5D6C5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77" y="2051767"/>
            <a:ext cx="8220328" cy="4351338"/>
          </a:xfrm>
        </p:spPr>
      </p:pic>
    </p:spTree>
    <p:extLst>
      <p:ext uri="{BB962C8B-B14F-4D97-AF65-F5344CB8AC3E}">
        <p14:creationId xmlns:p14="http://schemas.microsoft.com/office/powerpoint/2010/main" val="357296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0A75-EFD7-9E19-50EA-B8E3076B8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12. : What is the peak hour for orders? 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FDF9B4-FB04-6322-3FED-7E41C02DA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687" y="2141538"/>
            <a:ext cx="6863650" cy="3649662"/>
          </a:xfrm>
        </p:spPr>
      </p:pic>
    </p:spTree>
    <p:extLst>
      <p:ext uri="{BB962C8B-B14F-4D97-AF65-F5344CB8AC3E}">
        <p14:creationId xmlns:p14="http://schemas.microsoft.com/office/powerpoint/2010/main" val="810431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CE0C-4C63-100C-A8D2-F6D2572B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13. : What are the average daily orders?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4926DF-C497-3E71-60AF-3D334CB21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45" y="1783668"/>
            <a:ext cx="9017345" cy="4258269"/>
          </a:xfrm>
        </p:spPr>
      </p:pic>
    </p:spTree>
    <p:extLst>
      <p:ext uri="{BB962C8B-B14F-4D97-AF65-F5344CB8AC3E}">
        <p14:creationId xmlns:p14="http://schemas.microsoft.com/office/powerpoint/2010/main" val="179444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09CD-F5BA-F99D-ECAC-8DA87D72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14. : What is the total revenue for the first quarter?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C0F758-CFE3-84F5-EC50-091EF07FA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681" y="2141538"/>
            <a:ext cx="7179662" cy="3649662"/>
          </a:xfrm>
        </p:spPr>
      </p:pic>
    </p:spTree>
    <p:extLst>
      <p:ext uri="{BB962C8B-B14F-4D97-AF65-F5344CB8AC3E}">
        <p14:creationId xmlns:p14="http://schemas.microsoft.com/office/powerpoint/2010/main" val="354031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BB31-5C47-488F-0256-D53A513D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15. : How many orders have more than one item?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D64DA6-69D7-ED7D-355A-400CFBE8E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876" y="2141538"/>
            <a:ext cx="6033273" cy="3649662"/>
          </a:xfrm>
        </p:spPr>
      </p:pic>
    </p:spTree>
    <p:extLst>
      <p:ext uri="{BB962C8B-B14F-4D97-AF65-F5344CB8AC3E}">
        <p14:creationId xmlns:p14="http://schemas.microsoft.com/office/powerpoint/2010/main" val="286934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2EFFE-21AD-FBD4-5FD8-7A6A5FA0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16. : What is the total number of unique customers 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7B9E97-9298-30A1-5BC7-16D8B51AC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646" y="2177448"/>
            <a:ext cx="8580400" cy="4315427"/>
          </a:xfrm>
        </p:spPr>
      </p:pic>
    </p:spTree>
    <p:extLst>
      <p:ext uri="{BB962C8B-B14F-4D97-AF65-F5344CB8AC3E}">
        <p14:creationId xmlns:p14="http://schemas.microsoft.com/office/powerpoint/2010/main" val="5262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C4BE-5BB8-55C9-10ED-80D0A3B1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17. : What is the average price of an item in the 'American' category?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3E2F1F-2C60-0FC8-0662-738718E2E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4" y="1825625"/>
            <a:ext cx="8656462" cy="4351338"/>
          </a:xfrm>
        </p:spPr>
      </p:pic>
    </p:spTree>
    <p:extLst>
      <p:ext uri="{BB962C8B-B14F-4D97-AF65-F5344CB8AC3E}">
        <p14:creationId xmlns:p14="http://schemas.microsoft.com/office/powerpoint/2010/main" val="2722769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E364-5914-15BD-449A-3FC101C4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18. : Which item has the highest price in the 'Asian' category?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33F777-3669-C9C4-8A63-4D1EFC599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4" y="1953133"/>
            <a:ext cx="8215995" cy="4096322"/>
          </a:xfrm>
        </p:spPr>
      </p:pic>
    </p:spTree>
    <p:extLst>
      <p:ext uri="{BB962C8B-B14F-4D97-AF65-F5344CB8AC3E}">
        <p14:creationId xmlns:p14="http://schemas.microsoft.com/office/powerpoint/2010/main" val="3995024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17D2-3F35-9E01-F767-C6C38AAD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19. : What is the average number of items per order?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641EDD-226C-84BE-78CD-ED9F6CC9D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15" y="1825624"/>
            <a:ext cx="7718323" cy="4889807"/>
          </a:xfrm>
        </p:spPr>
      </p:pic>
    </p:spTree>
    <p:extLst>
      <p:ext uri="{BB962C8B-B14F-4D97-AF65-F5344CB8AC3E}">
        <p14:creationId xmlns:p14="http://schemas.microsoft.com/office/powerpoint/2010/main" val="561117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3082-2D28-419C-8CF9-8944B230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20. : How many menu items are there in each category?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204BAD-ECF2-DD91-1078-F154CD499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29" y="2141537"/>
            <a:ext cx="8613058" cy="4351338"/>
          </a:xfrm>
        </p:spPr>
      </p:pic>
    </p:spTree>
    <p:extLst>
      <p:ext uri="{BB962C8B-B14F-4D97-AF65-F5344CB8AC3E}">
        <p14:creationId xmlns:p14="http://schemas.microsoft.com/office/powerpoint/2010/main" val="1571588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9EE0-C314-D302-A859-ED5A3D50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21. What is the total number of menu items sold?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61C3E0-091C-0DCB-BA8C-B47DE4F79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68" y="2666500"/>
            <a:ext cx="8699305" cy="3581900"/>
          </a:xfrm>
        </p:spPr>
      </p:pic>
    </p:spTree>
    <p:extLst>
      <p:ext uri="{BB962C8B-B14F-4D97-AF65-F5344CB8AC3E}">
        <p14:creationId xmlns:p14="http://schemas.microsoft.com/office/powerpoint/2010/main" val="769128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D373-472D-5078-025E-182ECCAD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22. Which order has the highest total value?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68B5C0-2CF2-286F-475E-30130682E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141537"/>
            <a:ext cx="7568169" cy="4239597"/>
          </a:xfrm>
        </p:spPr>
      </p:pic>
    </p:spTree>
    <p:extLst>
      <p:ext uri="{BB962C8B-B14F-4D97-AF65-F5344CB8AC3E}">
        <p14:creationId xmlns:p14="http://schemas.microsoft.com/office/powerpoint/2010/main" val="4065612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A260-D414-EA41-B56A-D50FF4A8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23. What are the top 3 least sold menu items?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CA8634-5A5C-45CF-2B8E-946043408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340" y="2150090"/>
            <a:ext cx="7888346" cy="4351338"/>
          </a:xfrm>
        </p:spPr>
      </p:pic>
    </p:spTree>
    <p:extLst>
      <p:ext uri="{BB962C8B-B14F-4D97-AF65-F5344CB8AC3E}">
        <p14:creationId xmlns:p14="http://schemas.microsoft.com/office/powerpoint/2010/main" val="1019680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98D2C-BB70-3AF3-6E13-A7539ECD0989}"/>
              </a:ext>
            </a:extLst>
          </p:cNvPr>
          <p:cNvSpPr txBox="1"/>
          <p:nvPr/>
        </p:nvSpPr>
        <p:spPr>
          <a:xfrm>
            <a:off x="707923" y="432617"/>
            <a:ext cx="10982632" cy="5878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/>
              <a:t>📊</a:t>
            </a:r>
            <a:r>
              <a:rPr lang="en-IN" dirty="0"/>
              <a:t> </a:t>
            </a:r>
            <a:r>
              <a:rPr lang="en-IN" sz="3600" b="1" u="sng" dirty="0">
                <a:solidFill>
                  <a:schemeClr val="bg1"/>
                </a:solidFill>
                <a:latin typeface="Bell MT" panose="02020503060305020303" pitchFamily="18" charset="0"/>
              </a:rPr>
              <a:t>Key Business Insights </a:t>
            </a:r>
            <a:r>
              <a:rPr lang="en-IN" sz="3600" dirty="0">
                <a:solidFill>
                  <a:schemeClr val="bg1"/>
                </a:solidFill>
              </a:rPr>
              <a:t>–</a:t>
            </a:r>
          </a:p>
          <a:p>
            <a:r>
              <a:rPr lang="en-IN" sz="2000" dirty="0">
                <a:solidFill>
                  <a:schemeClr val="bg1"/>
                </a:solidFill>
              </a:rPr>
              <a:t>- The restaurant generated a total revenue of </a:t>
            </a:r>
            <a:r>
              <a:rPr lang="en-IN" sz="2000" b="1" u="sng" dirty="0">
                <a:solidFill>
                  <a:schemeClr val="bg1"/>
                </a:solidFill>
              </a:rPr>
              <a:t>277,087,363,</a:t>
            </a:r>
            <a:r>
              <a:rPr lang="en-IN" sz="2000" dirty="0">
                <a:solidFill>
                  <a:schemeClr val="bg1"/>
                </a:solidFill>
              </a:rPr>
              <a:t> reflecting strong overall business   performance.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A total of </a:t>
            </a:r>
            <a:r>
              <a:rPr lang="en-IN" sz="2000" b="1" u="sng" dirty="0">
                <a:solidFill>
                  <a:schemeClr val="bg1"/>
                </a:solidFill>
              </a:rPr>
              <a:t>9,794 menu items </a:t>
            </a:r>
            <a:r>
              <a:rPr lang="en-IN" sz="2000" dirty="0">
                <a:solidFill>
                  <a:schemeClr val="bg1"/>
                </a:solidFill>
              </a:rPr>
              <a:t>were sold during the analysis period.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The </a:t>
            </a:r>
            <a:r>
              <a:rPr lang="en-IN" sz="2000" b="1" u="sng" dirty="0">
                <a:solidFill>
                  <a:schemeClr val="bg1"/>
                </a:solidFill>
              </a:rPr>
              <a:t>Asian</a:t>
            </a:r>
            <a:r>
              <a:rPr lang="en-IN" sz="2000" dirty="0">
                <a:solidFill>
                  <a:schemeClr val="bg1"/>
                </a:solidFill>
              </a:rPr>
              <a:t> category emerged as the most popular cuisine category among customers.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The average order value was approximately </a:t>
            </a:r>
            <a:r>
              <a:rPr lang="en-IN" sz="2000" b="1" u="sng" dirty="0">
                <a:solidFill>
                  <a:schemeClr val="bg1"/>
                </a:solidFill>
              </a:rPr>
              <a:t>2,133</a:t>
            </a:r>
            <a:r>
              <a:rPr lang="en-IN" sz="2000" dirty="0">
                <a:solidFill>
                  <a:schemeClr val="bg1"/>
                </a:solidFill>
              </a:rPr>
              <a:t>, indicating a healthy customer spending pattern.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 All menu items were sold at least once, meaning there were </a:t>
            </a:r>
            <a:r>
              <a:rPr lang="en-IN" sz="2000" b="1" u="sng" dirty="0">
                <a:solidFill>
                  <a:schemeClr val="bg1"/>
                </a:solidFill>
              </a:rPr>
              <a:t>no unsold items </a:t>
            </a:r>
            <a:r>
              <a:rPr lang="en-IN" sz="2000" dirty="0">
                <a:solidFill>
                  <a:schemeClr val="bg1"/>
                </a:solidFill>
              </a:rPr>
              <a:t>in the dataset.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 The restaurant generated an average daily revenue of approximately </a:t>
            </a:r>
            <a:r>
              <a:rPr lang="en-IN" sz="2000" b="1" u="sng" dirty="0">
                <a:solidFill>
                  <a:schemeClr val="bg1"/>
                </a:solidFill>
              </a:rPr>
              <a:t>129,006</a:t>
            </a:r>
            <a:r>
              <a:rPr lang="en-IN" sz="2000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The peak ordering hour was observed at </a:t>
            </a:r>
            <a:r>
              <a:rPr lang="en-IN" sz="2000" b="1" u="sng" dirty="0">
                <a:solidFill>
                  <a:schemeClr val="bg1"/>
                </a:solidFill>
              </a:rPr>
              <a:t>12:00 PM</a:t>
            </a:r>
            <a:r>
              <a:rPr lang="en-IN" sz="2000" dirty="0">
                <a:solidFill>
                  <a:schemeClr val="bg1"/>
                </a:solidFill>
              </a:rPr>
              <a:t>, highlighting lunchtime as the busiest period of the day.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The </a:t>
            </a:r>
            <a:r>
              <a:rPr lang="en-IN" sz="2000" b="1" u="sng" dirty="0">
                <a:solidFill>
                  <a:schemeClr val="bg1"/>
                </a:solidFill>
              </a:rPr>
              <a:t>three least sold menu items </a:t>
            </a:r>
            <a:r>
              <a:rPr lang="en-IN" sz="2000" dirty="0">
                <a:solidFill>
                  <a:schemeClr val="bg1"/>
                </a:solidFill>
              </a:rPr>
              <a:t>were: - 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                                                            Chicken Tacos  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                                                            Cheese Lasagna 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                                                            Cheese Quesadillas 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b="1" u="sng" dirty="0">
                <a:solidFill>
                  <a:schemeClr val="bg1"/>
                </a:solidFill>
              </a:rPr>
              <a:t>top three best-selling menu items </a:t>
            </a:r>
            <a:r>
              <a:rPr lang="en-US" sz="2000" dirty="0">
                <a:solidFill>
                  <a:schemeClr val="bg1"/>
                </a:solidFill>
              </a:rPr>
              <a:t>were: -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                                                            Hamburger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                                                            Edamame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                                                            Korean Beef Bowl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567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B3261F-0A43-65A5-0753-600095536837}"/>
              </a:ext>
            </a:extLst>
          </p:cNvPr>
          <p:cNvSpPr txBox="1"/>
          <p:nvPr/>
        </p:nvSpPr>
        <p:spPr>
          <a:xfrm>
            <a:off x="619432" y="275303"/>
            <a:ext cx="10840065" cy="60631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/>
              <a:t>🔮 </a:t>
            </a:r>
            <a:r>
              <a:rPr lang="en-IN" sz="3600" b="1" u="sng" dirty="0">
                <a:solidFill>
                  <a:schemeClr val="bg1"/>
                </a:solidFill>
                <a:latin typeface="Bell MT" panose="02020503060305020303" pitchFamily="18" charset="0"/>
              </a:rPr>
              <a:t>Future Recommendations for Increasing Sales-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Focus more on the </a:t>
            </a:r>
            <a:r>
              <a:rPr lang="en-IN" sz="2000" b="1" u="sng" dirty="0">
                <a:solidFill>
                  <a:schemeClr val="bg1"/>
                </a:solidFill>
              </a:rPr>
              <a:t>Asian category</a:t>
            </a:r>
            <a:r>
              <a:rPr lang="en-IN" sz="2000" dirty="0">
                <a:solidFill>
                  <a:schemeClr val="bg1"/>
                </a:solidFill>
              </a:rPr>
              <a:t>, as it is currently the most popular among customers. Introducing additional Asian dishes or combo meals may further increase revenue.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Promote the </a:t>
            </a:r>
            <a:r>
              <a:rPr lang="en-IN" sz="2000" b="1" u="sng" dirty="0">
                <a:solidFill>
                  <a:schemeClr val="bg1"/>
                </a:solidFill>
              </a:rPr>
              <a:t>least sold menu items </a:t>
            </a:r>
            <a:r>
              <a:rPr lang="en-IN" sz="2000" dirty="0">
                <a:solidFill>
                  <a:schemeClr val="bg1"/>
                </a:solidFill>
              </a:rPr>
              <a:t>such as Chicken Tacos, Cheese Lasagna, and Cheese Quesadillas through discounts, special offers, or combo deals to improve their sales performance.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Since the peak ordering time is </a:t>
            </a:r>
            <a:r>
              <a:rPr lang="en-IN" sz="2000" b="1" u="sng" dirty="0">
                <a:solidFill>
                  <a:schemeClr val="bg1"/>
                </a:solidFill>
              </a:rPr>
              <a:t>12 PM</a:t>
            </a:r>
            <a:r>
              <a:rPr lang="en-IN" sz="2000" dirty="0">
                <a:solidFill>
                  <a:schemeClr val="bg1"/>
                </a:solidFill>
              </a:rPr>
              <a:t>, the restaurant can introduce: - Lunch special offers - Limited-time meal combos - Faster delivery services during lunch hours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Implement </a:t>
            </a:r>
            <a:r>
              <a:rPr lang="en-IN" sz="2000" b="1" dirty="0">
                <a:solidFill>
                  <a:schemeClr val="bg1"/>
                </a:solidFill>
              </a:rPr>
              <a:t>customer loyalty programs </a:t>
            </a:r>
            <a:r>
              <a:rPr lang="en-IN" sz="2000" dirty="0">
                <a:solidFill>
                  <a:schemeClr val="bg1"/>
                </a:solidFill>
              </a:rPr>
              <a:t>and personalized offers to encourage repeat purchases and increase customer retention. </a:t>
            </a:r>
          </a:p>
          <a:p>
            <a:pPr marL="285750" indent="-285750">
              <a:buFontTx/>
              <a:buChar char="-"/>
            </a:pPr>
            <a:r>
              <a:rPr lang="en-IN" sz="2000" dirty="0">
                <a:solidFill>
                  <a:schemeClr val="bg1"/>
                </a:solidFill>
              </a:rPr>
              <a:t>Analyse customer </a:t>
            </a:r>
            <a:r>
              <a:rPr lang="en-IN" sz="2000" b="1" dirty="0">
                <a:solidFill>
                  <a:schemeClr val="bg1"/>
                </a:solidFill>
              </a:rPr>
              <a:t>ordering behaviour </a:t>
            </a:r>
            <a:r>
              <a:rPr lang="en-IN" sz="2000" dirty="0">
                <a:solidFill>
                  <a:schemeClr val="bg1"/>
                </a:solidFill>
              </a:rPr>
              <a:t>regularly to identify changing food preferences and seasonal trends.</a:t>
            </a:r>
          </a:p>
          <a:p>
            <a:r>
              <a:rPr lang="en-IN" sz="2000" dirty="0">
                <a:solidFill>
                  <a:schemeClr val="bg1"/>
                </a:solidFill>
              </a:rPr>
              <a:t> -  Introduce </a:t>
            </a:r>
            <a:r>
              <a:rPr lang="en-IN" sz="2000" b="1" dirty="0">
                <a:solidFill>
                  <a:schemeClr val="bg1"/>
                </a:solidFill>
              </a:rPr>
              <a:t>upselling strategies </a:t>
            </a:r>
            <a:r>
              <a:rPr lang="en-IN" sz="2000" dirty="0">
                <a:solidFill>
                  <a:schemeClr val="bg1"/>
                </a:solidFill>
              </a:rPr>
              <a:t>by recommending </a:t>
            </a:r>
            <a:r>
              <a:rPr lang="en-IN" sz="2000" u="sng" dirty="0">
                <a:solidFill>
                  <a:schemeClr val="bg1"/>
                </a:solidFill>
              </a:rPr>
              <a:t>side dishes, beverages, or desserts </a:t>
            </a:r>
            <a:r>
              <a:rPr lang="en-IN" sz="2000" dirty="0">
                <a:solidFill>
                  <a:schemeClr val="bg1"/>
                </a:solidFill>
              </a:rPr>
              <a:t>along with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popular menu items.</a:t>
            </a:r>
          </a:p>
          <a:p>
            <a:pPr marL="285750" indent="-285750">
              <a:buFontTx/>
              <a:buChar char="-"/>
            </a:pPr>
            <a:r>
              <a:rPr lang="en-IN" sz="2000" b="1" dirty="0">
                <a:solidFill>
                  <a:schemeClr val="bg1"/>
                </a:solidFill>
              </a:rPr>
              <a:t>Optimize menu pricing </a:t>
            </a:r>
            <a:r>
              <a:rPr lang="en-IN" sz="2000" dirty="0">
                <a:solidFill>
                  <a:schemeClr val="bg1"/>
                </a:solidFill>
              </a:rPr>
              <a:t>based on demand and item popularity to maximize profitability. </a:t>
            </a:r>
          </a:p>
          <a:p>
            <a:r>
              <a:rPr lang="en-IN" sz="2000" dirty="0">
                <a:solidFill>
                  <a:schemeClr val="bg1"/>
                </a:solidFill>
              </a:rPr>
              <a:t>-   Use predictive analytics to forecast future sales trends and </a:t>
            </a:r>
            <a:r>
              <a:rPr lang="en-IN" sz="2000" b="1" dirty="0">
                <a:solidFill>
                  <a:schemeClr val="bg1"/>
                </a:solidFill>
              </a:rPr>
              <a:t>improve inventory planning</a:t>
            </a:r>
            <a:r>
              <a:rPr lang="en-IN" sz="2000" dirty="0">
                <a:solidFill>
                  <a:schemeClr val="bg1"/>
                </a:solidFill>
              </a:rPr>
              <a:t>. </a:t>
            </a:r>
          </a:p>
          <a:p>
            <a:r>
              <a:rPr lang="en-IN" sz="2000" dirty="0">
                <a:solidFill>
                  <a:schemeClr val="bg1"/>
                </a:solidFill>
              </a:rPr>
              <a:t>-   Increase </a:t>
            </a:r>
            <a:r>
              <a:rPr lang="en-IN" sz="2000" b="1" dirty="0">
                <a:solidFill>
                  <a:schemeClr val="bg1"/>
                </a:solidFill>
              </a:rPr>
              <a:t>digital marketing </a:t>
            </a:r>
            <a:r>
              <a:rPr lang="en-IN" sz="2000" dirty="0">
                <a:solidFill>
                  <a:schemeClr val="bg1"/>
                </a:solidFill>
              </a:rPr>
              <a:t>and </a:t>
            </a:r>
            <a:r>
              <a:rPr lang="en-IN" sz="2000" b="1" dirty="0">
                <a:solidFill>
                  <a:schemeClr val="bg1"/>
                </a:solidFill>
              </a:rPr>
              <a:t>social media promotions </a:t>
            </a:r>
            <a:r>
              <a:rPr lang="en-IN" sz="2000" dirty="0">
                <a:solidFill>
                  <a:schemeClr val="bg1"/>
                </a:solidFill>
              </a:rPr>
              <a:t>to attract more customers and improve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brand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779835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39532-74E3-3D13-B37F-D6C83EB673B7}"/>
              </a:ext>
            </a:extLst>
          </p:cNvPr>
          <p:cNvSpPr txBox="1"/>
          <p:nvPr/>
        </p:nvSpPr>
        <p:spPr>
          <a:xfrm>
            <a:off x="801329" y="551289"/>
            <a:ext cx="10589342" cy="57554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📌 </a:t>
            </a:r>
            <a:r>
              <a:rPr lang="en-IN" sz="4000" u="sng" dirty="0">
                <a:solidFill>
                  <a:schemeClr val="bg1"/>
                </a:solidFill>
                <a:latin typeface="Algerian" panose="04020705040A02060702" pitchFamily="82" charset="0"/>
              </a:rPr>
              <a:t>Conclusion -</a:t>
            </a:r>
            <a:endParaRPr lang="en-IN" sz="1600" u="sng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endParaRPr lang="en-IN" sz="16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- This Restaurant SQL Analysis Project successfully demonstrated how SQL can be used to analyze restaurant sales data .</a:t>
            </a:r>
          </a:p>
          <a:p>
            <a:r>
              <a:rPr lang="en-IN" sz="2400" dirty="0">
                <a:solidFill>
                  <a:schemeClr val="bg1"/>
                </a:solidFill>
              </a:rPr>
              <a:t>- By working with the `menu_items` and `order_items` datasets, valuable information related to customer behaviour, sales trends, menu performance, and revenue generation was identified. </a:t>
            </a:r>
          </a:p>
          <a:p>
            <a:r>
              <a:rPr lang="en-IN" sz="2400" dirty="0">
                <a:solidFill>
                  <a:schemeClr val="bg1"/>
                </a:solidFill>
              </a:rPr>
              <a:t>- The analysis revealed that the restaurant generated strong overall revenue, with the Asian category emerging as the most popular among customers. </a:t>
            </a:r>
          </a:p>
          <a:p>
            <a:r>
              <a:rPr lang="en-IN" sz="2400" dirty="0">
                <a:solidFill>
                  <a:schemeClr val="bg1"/>
                </a:solidFill>
              </a:rPr>
              <a:t>- Peak ordering activity was observed during lunchtime, while all menu items recorded at least one sale, indicating effective menu utilization. 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Additionally, the project helped identify both top-performing and low-performing menu items, enabling data-driven recommendations for improving future sales and customer engagement. </a:t>
            </a:r>
          </a:p>
        </p:txBody>
      </p:sp>
    </p:spTree>
    <p:extLst>
      <p:ext uri="{BB962C8B-B14F-4D97-AF65-F5344CB8AC3E}">
        <p14:creationId xmlns:p14="http://schemas.microsoft.com/office/powerpoint/2010/main" val="1423100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403E47-8B40-25B9-8A62-39129823A6AD}"/>
              </a:ext>
            </a:extLst>
          </p:cNvPr>
          <p:cNvSpPr txBox="1"/>
          <p:nvPr/>
        </p:nvSpPr>
        <p:spPr>
          <a:xfrm>
            <a:off x="1425677" y="2374491"/>
            <a:ext cx="9183329" cy="15696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9600" b="1" dirty="0"/>
              <a:t>⭐ </a:t>
            </a:r>
            <a:r>
              <a:rPr lang="en-IN" sz="9600" u="sng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3821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304</TotalTime>
  <Words>829</Words>
  <Application>Microsoft Office PowerPoint</Application>
  <PresentationFormat>Widescreen</PresentationFormat>
  <Paragraphs>69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Algerian</vt:lpstr>
      <vt:lpstr>Arial</vt:lpstr>
      <vt:lpstr>Bauhaus 93</vt:lpstr>
      <vt:lpstr>Bell MT</vt:lpstr>
      <vt:lpstr>Calibri</vt:lpstr>
      <vt:lpstr>Calibri Light</vt:lpstr>
      <vt:lpstr>Wingdings</vt:lpstr>
      <vt:lpstr>Celestial</vt:lpstr>
      <vt:lpstr>RESTAURANTS PROJECT</vt:lpstr>
      <vt:lpstr>PowerPoint Presentation</vt:lpstr>
      <vt:lpstr>1. : What are the top 5 mostLY sold menu items?</vt:lpstr>
      <vt:lpstr> 2. What is the total revenue generated?</vt:lpstr>
      <vt:lpstr>3. : What is the average price of an item in each category?</vt:lpstr>
      <vt:lpstr>4. : What is the total revenue generated by each food category?</vt:lpstr>
      <vt:lpstr>5. : How many orders were placed on a specific month</vt:lpstr>
      <vt:lpstr>6. : What is the most expensive item on the menu?</vt:lpstr>
      <vt:lpstr>7. : What are the most popular categories?</vt:lpstr>
      <vt:lpstr>8. : How many distinct menu items were sold in total?</vt:lpstr>
      <vt:lpstr>9. : What is the average order value?</vt:lpstr>
      <vt:lpstr>10. : What is the item that has not been sold?</vt:lpstr>
      <vt:lpstr>11. : What is the daily total revenue? (sales per day)</vt:lpstr>
      <vt:lpstr>12. : What is the peak hour for orders? </vt:lpstr>
      <vt:lpstr>13. : What are the average daily orders?</vt:lpstr>
      <vt:lpstr>14. : What is the total revenue for the first quarter?</vt:lpstr>
      <vt:lpstr>15. : How many orders have more than one item?</vt:lpstr>
      <vt:lpstr>16. : What is the total number of unique customers </vt:lpstr>
      <vt:lpstr>17. : What is the average price of an item in the 'American' category?</vt:lpstr>
      <vt:lpstr>18. : Which item has the highest price in the 'Asian' category?</vt:lpstr>
      <vt:lpstr>19. : What is the average number of items per order?</vt:lpstr>
      <vt:lpstr>20. : How many menu items are there in each category?</vt:lpstr>
      <vt:lpstr>21. What is the total number of menu items sold?</vt:lpstr>
      <vt:lpstr>22. Which order has the highest total value?</vt:lpstr>
      <vt:lpstr>23. What are the top 3 least sold menu items?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Kritika Aggarwal</dc:creator>
  <cp:lastModifiedBy>Kritika Aggarwal</cp:lastModifiedBy>
  <cp:revision>1</cp:revision>
  <dcterms:created xsi:type="dcterms:W3CDTF">2025-08-16T07:58:55Z</dcterms:created>
  <dcterms:modified xsi:type="dcterms:W3CDTF">2026-06-09T10:43:23Z</dcterms:modified>
</cp:coreProperties>
</file>